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7"/>
  </p:normalViewPr>
  <p:slideViewPr>
    <p:cSldViewPr snapToGrid="0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D61A-F972-8D7F-A8E0-6367B77FD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7711AC-4264-0AB2-1FB4-8578D71E4F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A4F69-92CF-5875-CDF8-D67474544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2C8F2-DCB3-4C84-2467-23D187F8E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AB92F-F230-0A82-8BCF-73D294840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137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BB7B-737A-4F8D-E74A-C8FF2563C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0DC98-CCA7-1CE7-E0E6-D32BFFC4D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50B84-23DC-1F31-EA97-04FAD079C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6534-DED5-2FF3-863A-228E7590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68DB1-60D5-87A2-A654-ECC58DBB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27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00AB8-7741-E1A6-0D1E-8A0824C24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4E737-8197-4C9B-C574-51CD8DB68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3E070-6218-F841-DB47-0AAC720BC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4C1FC-A7D2-1D6B-F48F-D0537702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88459-4AB1-5DE0-D417-3C3C7E49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70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A8772-7137-D33A-BBB2-7E82D615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ACC38-75E0-FAAA-D921-657CD74D7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651B4-67BD-D1DE-B3AB-93F25E0FD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6D1565-476C-51E0-C1E7-38E2D191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0BBFC-BB99-220A-52BB-72FE06DB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3A7857-3862-CC22-B898-BC6EEBBC3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22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463B1-39A9-4001-DB97-161138A67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59FBA-D797-E964-8003-02B11C634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3C6AA-6687-EE75-2F12-EA16A08B9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E83A5B-6581-4A80-1D6C-2B7C46D32B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94D0B-8BAE-D25B-C9AD-7F61F9B70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0E4FA-3CEC-95CC-321B-9EB25E5D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EC0B22-06DC-25BB-523E-D41CD71A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64F9A6-8A03-F759-BDE4-46E116B8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4BB1C-45F3-23A1-3D14-9DF8B67CF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0FA84-C398-E6B8-8F05-4547A66C6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B21AAF-2EC3-D9E5-E5E2-4287B7AC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09113-9919-2C50-AD67-2957384A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77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CA8A1F-6F61-0D8D-169D-D1F8D2803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59BB6-4267-D349-9DC0-C34B9067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C87BC-BB5A-43A2-C13B-318DBD98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31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3DE0-E8B8-403D-2397-F3294D891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E8979-A4F3-14CA-81FC-435A39447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68FD3-99F9-5D85-A8B8-C863B49F8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A280E-CF1F-784B-ED26-24FFCD31F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7D3C3-D1E7-B8B0-2BAF-220C1C7AD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60DA5-A728-AD1E-6BE2-D3291D2DB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10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E7EA0-47D8-31CB-BB45-0E584C23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980E8-6C1F-5EBB-4346-281B9CB20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DCB6C-9441-B9F8-623B-E3334D52E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7FB562-5615-212C-4D99-8FF4EFC3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24DDD-958A-85C5-E753-96872DB15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6DE79-6E88-81D4-793E-745466A4E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2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FAFB-41A9-331B-041E-2D755B92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32DA3-589A-2F2B-07EF-582244BEF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6C420-42E6-0265-6522-7B126F63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C0C6A-86E3-255E-0A01-391B5FB13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5DB65-20ED-0E63-6264-C15CAA89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59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A2E16-5D99-9C3A-4E9D-1CF637494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19306-4060-AD66-F294-2EBA4F580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0BED6-8141-D91E-96AF-19CD5B172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9C6CA-911E-06EF-E4B1-3B449985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0660B-FFE2-CFF6-9CCF-D9407D073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55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08EF15-D202-B1F9-BDEC-874763870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B08D96-E6D3-F6D0-75CC-C3825A748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C6DB8-D895-A50C-75B7-0EC5873B6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77142-FCF0-8B40-844F-1AC6F8D42D4E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BDA9E-1C97-7619-41C6-2E88F1C6B9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B1B24-4F94-7ED0-0782-FF2F6CFAB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53999-FFD1-874A-8CAA-A68B75856B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4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7A61-FC65-945E-A903-F2E6D2C598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UK Cyber Risk Monthly Update – April 2026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9C66E-2678-539A-EE0D-7951D5018B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Prepared for the UK Technology Risk Committee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B6BFD-B4C3-1096-25BA-91FE44F68EDA}"/>
              </a:ext>
            </a:extLst>
          </p:cNvPr>
          <p:cNvSpPr txBox="1"/>
          <p:nvPr/>
        </p:nvSpPr>
        <p:spPr>
          <a:xfrm>
            <a:off x="161365" y="225911"/>
            <a:ext cx="1613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03 April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94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56F78F4-976F-D6CD-4890-34E2C60B3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Risk Overview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F94B0F0-EE70-CCC9-C012-09695C1461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79692"/>
            <a:ext cx="5704190" cy="1947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1090" rIns="0" bIns="11109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Top 3 High risks by control gap: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10 total risks tracked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4 High residual risks (R‑001, R‑002, R‑005, R‑008)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4 Medium, 2 Low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rgbClr val="F9FAFB"/>
                </a:solidFill>
                <a:effectLst/>
                <a:latin typeface="quote-cjk-patch"/>
              </a:rPr>
              <a:t>8 risk categories including Cloud Misconfiguration, IAM, Insecure APIs, Backup &amp;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29922E9-37B5-C334-7F80-703024E34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01180"/>
            <a:ext cx="5704190" cy="1517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1090" rIns="0" bIns="11109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10 total risks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tracked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4 High residual risks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(R‑001, R‑002, R‑005, R‑008)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4 Medium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, 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2 Low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8 risk categories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including Cloud Misconfiguration, IAM, Insecure APIs, Backup &amp; Recovery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21760EF-945D-2939-3FEB-6277F2132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453771"/>
              </p:ext>
            </p:extLst>
          </p:nvPr>
        </p:nvGraphicFramePr>
        <p:xfrm>
          <a:off x="838200" y="3553641"/>
          <a:ext cx="9478384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388">
                  <a:extLst>
                    <a:ext uri="{9D8B030D-6E8A-4147-A177-3AD203B41FA5}">
                      <a16:colId xmlns:a16="http://schemas.microsoft.com/office/drawing/2014/main" val="2824235093"/>
                    </a:ext>
                  </a:extLst>
                </a:gridCol>
                <a:gridCol w="1947134">
                  <a:extLst>
                    <a:ext uri="{9D8B030D-6E8A-4147-A177-3AD203B41FA5}">
                      <a16:colId xmlns:a16="http://schemas.microsoft.com/office/drawing/2014/main" val="3349764727"/>
                    </a:ext>
                  </a:extLst>
                </a:gridCol>
                <a:gridCol w="3281083">
                  <a:extLst>
                    <a:ext uri="{9D8B030D-6E8A-4147-A177-3AD203B41FA5}">
                      <a16:colId xmlns:a16="http://schemas.microsoft.com/office/drawing/2014/main" val="1468242360"/>
                    </a:ext>
                  </a:extLst>
                </a:gridCol>
                <a:gridCol w="1656677">
                  <a:extLst>
                    <a:ext uri="{9D8B030D-6E8A-4147-A177-3AD203B41FA5}">
                      <a16:colId xmlns:a16="http://schemas.microsoft.com/office/drawing/2014/main" val="426813541"/>
                    </a:ext>
                  </a:extLst>
                </a:gridCol>
                <a:gridCol w="1549102">
                  <a:extLst>
                    <a:ext uri="{9D8B030D-6E8A-4147-A177-3AD203B41FA5}">
                      <a16:colId xmlns:a16="http://schemas.microsoft.com/office/drawing/2014/main" val="25856134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Risk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 Gap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98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R‑001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 Misconfiguration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automated CSPM; bucket audit disabled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 Eng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28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R‑005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Insecure APIs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DAST pipeline missing; no rate limiting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Security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236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R‑002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CI/CD for IAM policy generation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IAM Team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949948"/>
                  </a:ext>
                </a:extLst>
              </a:tr>
            </a:tbl>
          </a:graphicData>
        </a:graphic>
      </p:graphicFrame>
      <p:pic>
        <p:nvPicPr>
          <p:cNvPr id="20" name="Picture 19">
            <a:extLst>
              <a:ext uri="{FF2B5EF4-FFF2-40B4-BE49-F238E27FC236}">
                <a16:creationId xmlns:a16="http://schemas.microsoft.com/office/drawing/2014/main" id="{D2165C1E-2C8B-9D3B-3931-FB8730D4C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595" y="158750"/>
            <a:ext cx="2667000" cy="327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AC85-6165-D3D2-AEF0-BF281472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Operational Resilience – Important Business Services (IBS)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8026895-979D-B197-E617-9D9181EC1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563616"/>
              </p:ext>
            </p:extLst>
          </p:nvPr>
        </p:nvGraphicFramePr>
        <p:xfrm>
          <a:off x="838200" y="1871980"/>
          <a:ext cx="75527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148">
                  <a:extLst>
                    <a:ext uri="{9D8B030D-6E8A-4147-A177-3AD203B41FA5}">
                      <a16:colId xmlns:a16="http://schemas.microsoft.com/office/drawing/2014/main" val="2626465275"/>
                    </a:ext>
                  </a:extLst>
                </a:gridCol>
                <a:gridCol w="1947134">
                  <a:extLst>
                    <a:ext uri="{9D8B030D-6E8A-4147-A177-3AD203B41FA5}">
                      <a16:colId xmlns:a16="http://schemas.microsoft.com/office/drawing/2014/main" val="3823433795"/>
                    </a:ext>
                  </a:extLst>
                </a:gridCol>
                <a:gridCol w="2474259">
                  <a:extLst>
                    <a:ext uri="{9D8B030D-6E8A-4147-A177-3AD203B41FA5}">
                      <a16:colId xmlns:a16="http://schemas.microsoft.com/office/drawing/2014/main" val="3055525560"/>
                    </a:ext>
                  </a:extLst>
                </a:gridCol>
                <a:gridCol w="1721224">
                  <a:extLst>
                    <a:ext uri="{9D8B030D-6E8A-4147-A177-3AD203B41FA5}">
                      <a16:colId xmlns:a16="http://schemas.microsoft.com/office/drawing/2014/main" val="1260675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Impact Tolerance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Remediation Owner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22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Risk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 mins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Payments </a:t>
                      </a:r>
                      <a:r>
                        <a:rPr lang="en-GB" sz="18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20-Apr-2026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97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Progress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240 mins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Platform Eng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15-Apr-2026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552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 mins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ML Ops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10-May-2026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303160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332506B9-C5A6-A946-620D-1A729F89B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16251"/>
            <a:ext cx="3593146" cy="287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74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9B91-4034-9AF6-362F-CD5EE8C48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 Governance &amp; Change Readiness</a:t>
            </a:r>
            <a:br>
              <a:rPr lang="en-GB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DCE89-2484-41C6-FADD-9AF3A403D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Blocked change (critical):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At‑risk changes (Amber):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5E1051-CF46-C933-1D48-DC24D34E15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482817"/>
              </p:ext>
            </p:extLst>
          </p:nvPr>
        </p:nvGraphicFramePr>
        <p:xfrm>
          <a:off x="1117599" y="2311797"/>
          <a:ext cx="8128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01099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6529829"/>
                    </a:ext>
                  </a:extLst>
                </a:gridCol>
                <a:gridCol w="2370268">
                  <a:extLst>
                    <a:ext uri="{9D8B030D-6E8A-4147-A177-3AD203B41FA5}">
                      <a16:colId xmlns:a16="http://schemas.microsoft.com/office/drawing/2014/main" val="3248516566"/>
                    </a:ext>
                  </a:extLst>
                </a:gridCol>
                <a:gridCol w="1693732">
                  <a:extLst>
                    <a:ext uri="{9D8B030D-6E8A-4147-A177-3AD203B41FA5}">
                      <a16:colId xmlns:a16="http://schemas.microsoft.com/office/drawing/2014/main" val="29785758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Product/Feature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Security Approver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94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Cloud Migration Phase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SQL injection found – fix required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CISO Office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44028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E5DA46-FFB6-B98F-0EB4-4D0C176B2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453680"/>
              </p:ext>
            </p:extLst>
          </p:nvPr>
        </p:nvGraphicFramePr>
        <p:xfrm>
          <a:off x="1117599" y="4534447"/>
          <a:ext cx="8128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35149685"/>
                    </a:ext>
                  </a:extLst>
                </a:gridCol>
                <a:gridCol w="1239521">
                  <a:extLst>
                    <a:ext uri="{9D8B030D-6E8A-4147-A177-3AD203B41FA5}">
                      <a16:colId xmlns:a16="http://schemas.microsoft.com/office/drawing/2014/main" val="495496903"/>
                    </a:ext>
                  </a:extLst>
                </a:gridCol>
                <a:gridCol w="2824479">
                  <a:extLst>
                    <a:ext uri="{9D8B030D-6E8A-4147-A177-3AD203B41FA5}">
                      <a16:colId xmlns:a16="http://schemas.microsoft.com/office/drawing/2014/main" val="18298290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912577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Product/Feature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Approver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9621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 Checkout Flow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Review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Pen test scheduled 10-May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CISO Office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452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Real‑time Balance API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Review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Awaiting pen test report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CISO Office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431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166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2985-06DA-51FA-E74A-DF62281F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 Summary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40B524-7AB8-E69D-FB8F-28DE358125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9492638"/>
              </p:ext>
            </p:extLst>
          </p:nvPr>
        </p:nvGraphicFramePr>
        <p:xfrm>
          <a:off x="838200" y="2137596"/>
          <a:ext cx="7886252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58831808"/>
                    </a:ext>
                  </a:extLst>
                </a:gridCol>
                <a:gridCol w="1814905">
                  <a:extLst>
                    <a:ext uri="{9D8B030D-6E8A-4147-A177-3AD203B41FA5}">
                      <a16:colId xmlns:a16="http://schemas.microsoft.com/office/drawing/2014/main" val="3547607972"/>
                    </a:ext>
                  </a:extLst>
                </a:gridCol>
                <a:gridCol w="1721223">
                  <a:extLst>
                    <a:ext uri="{9D8B030D-6E8A-4147-A177-3AD203B41FA5}">
                      <a16:colId xmlns:a16="http://schemas.microsoft.com/office/drawing/2014/main" val="2321606521"/>
                    </a:ext>
                  </a:extLst>
                </a:gridCol>
                <a:gridCol w="1721224">
                  <a:extLst>
                    <a:ext uri="{9D8B030D-6E8A-4147-A177-3AD203B41FA5}">
                      <a16:colId xmlns:a16="http://schemas.microsoft.com/office/drawing/2014/main" val="2405604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86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residual risks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🔴 Exceeds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79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IBS within tolerance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2/5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🔴 Critical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434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Product changes blocked/at risk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&lt;20%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🟡 Needs focus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212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incident duration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 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&lt;60 min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🔴 High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147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Remediation owners engaged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 teams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🟢 On track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067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6295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65CDCAAA-3612-C067-316F-C730B5815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C4BCE0D5-23E2-FC8D-94D0-D81614D67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8026101" cy="28712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1090" rIns="0" bIns="11109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For the UK Technology Risk Committee: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Approve CSPM tool budget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– addresses R‑001 (S3 misconfiguration) and enables automated audit.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Direct IAM Team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to implement CI/CD for IAM policy generation (R‑002) by 30‑Jun.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Escalate IBS‑003 (Checkout)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– daily status updates required from Payments Reliability.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Block Cloud Migration Phase 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until SQL injection is re‑mediated and re‑scanned.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Expedite pen tests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quote-cjk-patch"/>
              </a:rPr>
              <a:t> for New Checkout Flow and Real‑time Balance API – target completion by 15‑May.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40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3333</TotalTime>
  <Words>436</Words>
  <Application>Microsoft Macintosh PowerPoint</Application>
  <PresentationFormat>Widescreen</PresentationFormat>
  <Paragraphs>111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quote-cjk-patch</vt:lpstr>
      <vt:lpstr>Office Theme</vt:lpstr>
      <vt:lpstr>UK Cyber Risk Monthly Update – April 2026</vt:lpstr>
      <vt:lpstr>Top Risk Overview</vt:lpstr>
      <vt:lpstr>Operational Resilience – Important Business Services (IBS)</vt:lpstr>
      <vt:lpstr>Product Governance &amp; Change Readiness </vt:lpstr>
      <vt:lpstr>Key Metrics Summary 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Alao (Student)</dc:creator>
  <cp:lastModifiedBy>Khalid Alao (Student)</cp:lastModifiedBy>
  <cp:revision>2</cp:revision>
  <dcterms:created xsi:type="dcterms:W3CDTF">2026-04-03T20:59:15Z</dcterms:created>
  <dcterms:modified xsi:type="dcterms:W3CDTF">2026-04-06T04:32:27Z</dcterms:modified>
</cp:coreProperties>
</file>